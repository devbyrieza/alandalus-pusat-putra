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72" r:id="rId16"/>
    <p:sldId id="269" r:id="rId17"/>
    <p:sldId id="270" r:id="rId18"/>
    <p:sldId id="274" r:id="rId19"/>
    <p:sldId id="271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Jam/Hari</c:v>
                </c:pt>
              </c:strCache>
            </c:strRef>
          </c:tx>
          <c:spPr>
            <a:solidFill>
              <a:srgbClr val="7B1C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1AE-455D-BB2A-CAEE3371891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1AE-455D-BB2A-CAEE3371891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1AE-455D-BB2A-CAEE3371891C}"/>
              </c:ext>
            </c:extLst>
          </c:dPt>
          <c:dPt>
            <c:idx val="3"/>
            <c:invertIfNegative val="0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1AE-455D-BB2A-CAEE3371891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1AE-455D-BB2A-CAEE3371891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1AE-455D-BB2A-CAEE3371891C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61AE-455D-BB2A-CAEE3371891C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61AE-455D-BB2A-CAEE3371891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C1810"/>
                    </a:solidFill>
                    <a:latin typeface="Arial"/>
                  </a:defRPr>
                </a:pPr>
                <a:endParaRPr lang="id-I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Brasil</c:v>
                </c:pt>
                <c:pt idx="1">
                  <c:v>Afrika Selatan</c:v>
                </c:pt>
                <c:pt idx="2">
                  <c:v>Filipina</c:v>
                </c:pt>
                <c:pt idx="3">
                  <c:v>Indonesia</c:v>
                </c:pt>
                <c:pt idx="4">
                  <c:v>Nigeria</c:v>
                </c:pt>
                <c:pt idx="5">
                  <c:v>India</c:v>
                </c:pt>
                <c:pt idx="6">
                  <c:v>Meksiko</c:v>
                </c:pt>
                <c:pt idx="7">
                  <c:v>Tiongkok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9.6</c:v>
                </c:pt>
                <c:pt idx="1">
                  <c:v>9.5</c:v>
                </c:pt>
                <c:pt idx="2">
                  <c:v>9.4</c:v>
                </c:pt>
                <c:pt idx="3">
                  <c:v>8.6</c:v>
                </c:pt>
                <c:pt idx="4">
                  <c:v>8.5</c:v>
                </c:pt>
                <c:pt idx="5">
                  <c:v>7.3</c:v>
                </c:pt>
                <c:pt idx="6">
                  <c:v>7.1</c:v>
                </c:pt>
                <c:pt idx="7">
                  <c:v>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1AE-455D-BB2A-CAEE337189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id-ID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6350" cap="flat">
              <a:solidFill>
                <a:srgbClr val="CCCCC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id-ID" sz="1000" b="0" i="0" u="none" strike="noStrike">
                    <a:solidFill>
                      <a:srgbClr val="000000"/>
                    </a:solidFill>
                    <a:latin typeface="Arial"/>
                  </a:rPr>
                  <a:t>Jam per Hari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id-ID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401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97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-548640"/>
            <a:ext cx="3291840" cy="3291840"/>
          </a:xfrm>
          <a:prstGeom prst="ellipse">
            <a:avLst/>
          </a:prstGeom>
          <a:solidFill>
            <a:srgbClr val="5C1422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20840" y="-228600"/>
            <a:ext cx="2651760" cy="2651760"/>
          </a:xfrm>
          <a:prstGeom prst="ellipse">
            <a:avLst/>
          </a:prstGeom>
          <a:solidFill>
            <a:srgbClr val="4A0E1A"/>
          </a:solidFill>
          <a:ln w="12700">
            <a:solidFill>
              <a:srgbClr val="E8D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8404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ORIENTASI SANTRI BARU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JEMPOL</a:t>
            </a:r>
            <a:endParaRPr lang="en-US" sz="6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AMANAH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834640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834640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175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Santri Cerdas Menggunakan Gadget &amp; Media Sosial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5303520" cy="749808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602736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Pemateri: Rieza Eka Toma</a:t>
            </a:r>
            <a:r>
              <a:rPr lang="id-ID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S.Kom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Kabid IT — Pesantren Al Imam Al Islami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4622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Kamis, 23 Juli 2026   •   Masjid Al Furqon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MATERI INI PENTING?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697480" cy="393192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Pesantren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Antum istirahat</a:t>
            </a:r>
            <a:endParaRPr lang="en-US" sz="15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gadget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72968" y="804672"/>
            <a:ext cx="2697480" cy="3931920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96012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64408" y="173736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 Pulang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64408" y="230428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Medan ujian</a:t>
            </a:r>
            <a:endParaRPr lang="en-US" sz="15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sesungguhnya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25896" y="804672"/>
            <a:ext cx="2697480" cy="3931920"/>
          </a:xfrm>
          <a:prstGeom prst="rect">
            <a:avLst/>
          </a:prstGeom>
          <a:solidFill>
            <a:srgbClr val="7B1C2E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25896" y="96012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🎒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17336" y="173736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Hari Ini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17336" y="230428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Waktunya mengisi</a:t>
            </a:r>
            <a:endParaRPr lang="en-US" sz="15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BEKAL yang cukup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63056" y="4224528"/>
            <a:ext cx="2423160" cy="3840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424281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TUJUAN KITA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FAKTA 1 — Berapa Jam Kita di Depan Layar?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804672"/>
          <a:ext cx="576072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822960"/>
            <a:ext cx="2560320" cy="1828800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3640" y="8961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🇮🇩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309360" y="14447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Indonesia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09360" y="179222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 jam/hari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depan layar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2816352"/>
            <a:ext cx="2560320" cy="1737360"/>
          </a:xfrm>
          <a:prstGeom prst="rect">
            <a:avLst/>
          </a:prstGeom>
          <a:solidFill>
            <a:srgbClr val="4A0E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8803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 artinya...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09360" y="32004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Hampir separuh</a:t>
            </a:r>
            <a:endParaRPr lang="en-US" sz="13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terjaga</a:t>
            </a:r>
            <a:endParaRPr lang="en-US" sz="13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habis di layar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464515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We Are Social &amp; Hootsuite, Digital 2024 Global Overview Report (Januari 2024)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FAKTA 2 — Posisi Indonesia di Dunia Digital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2606040" cy="3200400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Medsos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Terbesar di Dunia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54680" y="822960"/>
            <a:ext cx="2606040" cy="3200400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9601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154680" y="162763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 Jt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246120" y="242316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Aktif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Sosial di Indonesia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89320" y="822960"/>
            <a:ext cx="2606040" cy="3200400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9601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989320" y="162763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080760" y="242316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Total Populasi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Aktif di Medsos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4160520"/>
            <a:ext cx="8503920" cy="594360"/>
          </a:xfrm>
          <a:prstGeom prst="rect">
            <a:avLst/>
          </a:prstGeom>
          <a:solidFill>
            <a:srgbClr val="4A0E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Kita juara penggunaan — tapi akhlak digitalnya belum juara. Inilah yang kita ubah bersama!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64515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We Are Social &amp; Hootsuite, Digital 2024 Global Overview Report (Januari 2024)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FAKTA 3 — Akhlak Digital Netizen Asia Tenggara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Digital Civility Index (semakin tinggi = semakin sopan)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08760" y="1216152"/>
            <a:ext cx="6583680" cy="384048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1216152"/>
            <a:ext cx="4871923" cy="384048"/>
          </a:xfrm>
          <a:prstGeom prst="rect">
            <a:avLst/>
          </a:prstGeom>
          <a:solidFill>
            <a:srgbClr val="0A4A0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22529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Singapura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36192" y="1234440"/>
            <a:ext cx="48262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83880" y="124358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4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Terbaik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08760" y="1783080"/>
            <a:ext cx="6583680" cy="384048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13" name="Shape 11"/>
          <p:cNvSpPr/>
          <p:nvPr/>
        </p:nvSpPr>
        <p:spPr>
          <a:xfrm>
            <a:off x="1508760" y="1783080"/>
            <a:ext cx="4476902" cy="384048"/>
          </a:xfrm>
          <a:prstGeom prst="rect">
            <a:avLst/>
          </a:prstGeom>
          <a:solidFill>
            <a:srgbClr val="1A5C1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79222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36192" y="1801368"/>
            <a:ext cx="443118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08760" y="2350008"/>
            <a:ext cx="6583680" cy="384048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17" name="Shape 15"/>
          <p:cNvSpPr/>
          <p:nvPr/>
        </p:nvSpPr>
        <p:spPr>
          <a:xfrm>
            <a:off x="1508760" y="2350008"/>
            <a:ext cx="4016045" cy="384048"/>
          </a:xfrm>
          <a:prstGeom prst="rect">
            <a:avLst/>
          </a:prstGeom>
          <a:solidFill>
            <a:srgbClr val="2E7D2E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35915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36192" y="2368296"/>
            <a:ext cx="397032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508760" y="2916936"/>
            <a:ext cx="6583680" cy="384048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21" name="Shape 19"/>
          <p:cNvSpPr/>
          <p:nvPr/>
        </p:nvSpPr>
        <p:spPr>
          <a:xfrm>
            <a:off x="1508760" y="2916936"/>
            <a:ext cx="3621024" cy="384048"/>
          </a:xfrm>
          <a:prstGeom prst="rect">
            <a:avLst/>
          </a:prstGeom>
          <a:solidFill>
            <a:srgbClr val="7A6000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9260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Filipina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36192" y="2935224"/>
            <a:ext cx="3575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508760" y="3483864"/>
            <a:ext cx="6583680" cy="384048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25" name="Shape 23"/>
          <p:cNvSpPr/>
          <p:nvPr/>
        </p:nvSpPr>
        <p:spPr>
          <a:xfrm>
            <a:off x="1508760" y="3483864"/>
            <a:ext cx="3357677" cy="384048"/>
          </a:xfrm>
          <a:prstGeom prst="rect">
            <a:avLst/>
          </a:prstGeom>
          <a:solidFill>
            <a:srgbClr val="8B4500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49300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36192" y="3502152"/>
            <a:ext cx="331195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508760" y="4050792"/>
            <a:ext cx="6583680" cy="384048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29" name="Shape 27"/>
          <p:cNvSpPr/>
          <p:nvPr/>
        </p:nvSpPr>
        <p:spPr>
          <a:xfrm>
            <a:off x="1508760" y="4050792"/>
            <a:ext cx="1975104" cy="38404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05993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36192" y="4069080"/>
            <a:ext cx="1929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83880" y="407822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Terendah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572000"/>
            <a:ext cx="8503920" cy="329184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5994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Santri Al Imam Al Islami harus menjadi pelopor akhlak digital yang baik!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3708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Microsoft Digital Civility Index 2021 — Asia Pacific Report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FAKTA 4 — Usia Santri &amp; Risiko Digital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029968"/>
            <a:ext cx="82296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10512"/>
            <a:ext cx="502920" cy="502920"/>
          </a:xfrm>
          <a:prstGeom prst="ellipse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828800" cy="137160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542032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pertama</a:t>
            </a:r>
            <a:endParaRPr lang="en-US" sz="13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punya akun medsos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71800" y="1810512"/>
            <a:ext cx="502920" cy="502920"/>
          </a:xfrm>
          <a:prstGeom prst="ellipse">
            <a:avLst/>
          </a:prstGeom>
          <a:solidFill>
            <a:srgbClr val="8B0000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97480" y="2450592"/>
            <a:ext cx="1828800" cy="1371600"/>
          </a:xfrm>
          <a:prstGeom prst="rect">
            <a:avLst/>
          </a:prstGeom>
          <a:solidFill>
            <a:srgbClr val="8B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0632" y="2542032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pertama</a:t>
            </a:r>
            <a:endParaRPr lang="en-US" sz="13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terpapar konten negatif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1810512"/>
            <a:ext cx="502920" cy="502920"/>
          </a:xfrm>
          <a:prstGeom prst="ellipse">
            <a:avLst/>
          </a:prstGeom>
          <a:solidFill>
            <a:srgbClr val="5C1422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450592"/>
            <a:ext cx="1828800" cy="1371600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2542032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aktif</a:t>
            </a:r>
            <a:endParaRPr lang="en-US" sz="13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berbagai platform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86600" y="1810512"/>
            <a:ext cx="502920" cy="502920"/>
          </a:xfrm>
          <a:prstGeom prst="ellipse">
            <a:avLst/>
          </a:prstGeom>
          <a:solidFill>
            <a:srgbClr val="1A5C1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13+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450592"/>
            <a:ext cx="1828800" cy="1371600"/>
          </a:xfrm>
          <a:prstGeom prst="rect">
            <a:avLst/>
          </a:prstGeom>
          <a:solidFill>
            <a:srgbClr val="1A5C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5432" y="2542032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 sebagian besar</a:t>
            </a:r>
            <a:endParaRPr lang="en-US" sz="13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santri MTs di sini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804672"/>
            <a:ext cx="8503920" cy="868680"/>
          </a:xfrm>
          <a:prstGeom prst="rect">
            <a:avLst/>
          </a:prstGeom>
          <a:solidFill>
            <a:srgbClr val="4A0E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841248"/>
            <a:ext cx="8321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Artinya: sebelum antum masuk pesantren ini — kemungkinan besar antum SUDAH terpapar dunia digital.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salah antum. Tapi sekarang saatnya SADAR dan BERBEKAL.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3931920"/>
            <a:ext cx="8503920" cy="50292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776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Pesantren ini adalah tempat terbaik untuk mengisi bekal itu!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5760" y="464515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Common Sense Media, "The Common Sense Census: Media Use by Tweens and Teens" (2023)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📖  DALIL 1 — JAGA LISAN &amp; JEMPOL DIGITAL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8503920" cy="1371600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مَنْ كَانَ يُؤْمِنُ بِاللَّهِ وَالْيَوْمِ الْآخِرِ فَلْيَقُلْ خَيْرًا أَوْ لِيَصْمُتْ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"Barangsiapa beriman kepada Allah dan hari akhir, hendaklah ia berkata baik atau diam."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HR. Bukhari (no. 6018) &amp; Muslim (no. 47)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8503920" cy="1572768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871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KONEKSI KE DUNIA DIGITAL: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8229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Hadits ini berlaku juga untuk JEMPOL yang mengetik komentar dan menekan tombol share.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berkomentar atau share — tanya diri sendiri: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"Ini baik?  Atau lebih baik aku DIAM?"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📖  DALIL 2 &amp; 3 — TABAYYUN &amp; CATATAN MALAIKAT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8503920" cy="1993392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680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QS. Al-Hujurat: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2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يَا أَيُّهَا الَّذِينَ آمَنُوا إِن جَاءَكُمْ فَاسِقٌ بِنَبَإٍ فَتَبَيَّنُوا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"Wahai orang-orang beriman! Jika seseorang fasik datang membawa berita, maka telitilah kebenarannya."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HOAKS bukan masalah zaman TikTok — Allah telah ingatkan kita 14 abad yang lalu!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8503920" cy="1938528"/>
          </a:xfrm>
          <a:prstGeom prst="rect">
            <a:avLst/>
          </a:prstGeom>
          <a:solidFill>
            <a:srgbClr val="4A0E1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98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QS. Qaf: 18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4553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2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مَا يَلْفِظُ مِن قَوْلٍ إِلَّا لَدَيْهِ رَقِيبٌ عَتِيدٌ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76732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"Tidak ada satu kata pun yang diucapkan melainkan ada malaikat pengawas yang siap mencatatnya."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Tidak bisa dihack. Tidak ada fitur hapus. Storage tidak pernah penuh — sampai hari kiamat.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📖  DALIL 4 — WAKTU ADALAH AMANAH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8503920" cy="1508760"/>
          </a:xfrm>
          <a:prstGeom prst="rect">
            <a:avLst/>
          </a:prstGeom>
          <a:solidFill>
            <a:srgbClr val="7B1C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30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وَالْعَصْرِ  إِنَّ الْإِنسَانَ لَفِي خُسْرٍ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"Demi masa. Sungguh manusia benar-benar berada dalam kerugian."   (QS. Al-'Asr: 1-2)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377440"/>
            <a:ext cx="4069080" cy="2331720"/>
          </a:xfrm>
          <a:prstGeom prst="rect">
            <a:avLst/>
          </a:prstGeom>
          <a:solidFill>
            <a:srgbClr val="6B0000"/>
          </a:solidFill>
          <a:ln w="19050">
            <a:solidFill>
              <a:srgbClr val="FF66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46888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RUGI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926080"/>
            <a:ext cx="3886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TikTok berjam-jam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manfaat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kerugian yang akan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dipertanggungjawabkan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akhirat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2377440"/>
            <a:ext cx="4069080" cy="2331720"/>
          </a:xfrm>
          <a:prstGeom prst="rect">
            <a:avLst/>
          </a:prstGeom>
          <a:solidFill>
            <a:srgbClr val="0A3D0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46888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8F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UNTUNG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926080"/>
            <a:ext cx="3886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waktu untuk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belajar, ngaji, dakwah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investasi akhirat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nyata &amp; abadi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🎒  5 BEKAL SANTRI DIGITAL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73152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32688"/>
            <a:ext cx="475488" cy="47548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326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896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🕌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91640" y="8595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AQIDAH LURUS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121615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 mana halal dan haram di dunia digital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1609344"/>
            <a:ext cx="8503920" cy="731520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737360"/>
            <a:ext cx="475488" cy="47548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737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4128" y="17007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91640" y="16642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TABAYYUN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2020824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dulu kebenarannya, share belakangan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414016"/>
            <a:ext cx="8503920" cy="73152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542032"/>
            <a:ext cx="475488" cy="47548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5420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4128" y="25054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91640" y="2468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JAGA LISAN DIGITAL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91640" y="2825496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 = ucapan = dicatat malaikat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218688"/>
            <a:ext cx="8503920" cy="731520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346704"/>
            <a:ext cx="475488" cy="47548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3467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4128" y="3310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691640" y="32735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MANAJEMEN WAKTU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691640" y="363016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Salat &amp; ngaji tetap nomor satu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0040" y="4023360"/>
            <a:ext cx="8503920" cy="73152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151376"/>
            <a:ext cx="475488" cy="47548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4151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4128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691640" y="40782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NIAT &amp; TUJUAN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691640" y="44348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buka HP — tanya diri: untuk apa?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🔍  CARA TABAYYUN — 4 LANGKAH MUDAH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932688"/>
            <a:ext cx="566928" cy="566928"/>
          </a:xfrm>
          <a:prstGeom prst="ellipse">
            <a:avLst/>
          </a:prstGeom>
          <a:solidFill>
            <a:srgbClr val="7B1C2E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9326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51560" y="877824"/>
            <a:ext cx="7772400" cy="713232"/>
          </a:xfrm>
          <a:prstGeom prst="rect">
            <a:avLst/>
          </a:prstGeom>
          <a:solidFill>
            <a:srgbClr val="EDE5D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95097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di Google — apakah berita ini pernah dibahas media/sumber terpercaya?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7472" y="1892808"/>
            <a:ext cx="566928" cy="566928"/>
          </a:xfrm>
          <a:prstGeom prst="ellipse">
            <a:avLst/>
          </a:prstGeom>
          <a:solidFill>
            <a:srgbClr val="7B1C2E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8928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51560" y="1837944"/>
            <a:ext cx="7772400" cy="713232"/>
          </a:xfrm>
          <a:prstGeom prst="rect">
            <a:avLst/>
          </a:prstGeom>
          <a:solidFill>
            <a:srgbClr val="E2D8C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91109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TANGGAL — berita lama sering beredar kembali seolah-olah baru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7472" y="2852928"/>
            <a:ext cx="566928" cy="566928"/>
          </a:xfrm>
          <a:prstGeom prst="ellipse">
            <a:avLst/>
          </a:prstGeom>
          <a:solidFill>
            <a:srgbClr val="7B1C2E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2852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51560" y="2798064"/>
            <a:ext cx="7772400" cy="713232"/>
          </a:xfrm>
          <a:prstGeom prst="rect">
            <a:avLst/>
          </a:prstGeom>
          <a:solidFill>
            <a:srgbClr val="EDE5D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287121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SUMBER — akun asalnya siapa? Apakah bisa dipercaya?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7472" y="3813048"/>
            <a:ext cx="566928" cy="566928"/>
          </a:xfrm>
          <a:prstGeom prst="ellipse">
            <a:avLst/>
          </a:prstGeom>
          <a:solidFill>
            <a:srgbClr val="7B1C2E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813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51560" y="3758184"/>
            <a:ext cx="7772400" cy="713232"/>
          </a:xfrm>
          <a:prstGeom prst="rect">
            <a:avLst/>
          </a:prstGeom>
          <a:solidFill>
            <a:srgbClr val="E2D8C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383133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"Kalau ini ternyata salah dan sudah aku share — apa akibatnya?"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4515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Ingat: lebih baik terlambat share daripada terlanjur sebar hoaks!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📌  STUDI KASUS NYATA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" y="804672"/>
            <a:ext cx="2651760" cy="3913632"/>
          </a:xfrm>
          <a:prstGeom prst="rect">
            <a:avLst/>
          </a:prstGeom>
          <a:solidFill>
            <a:srgbClr val="3D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9144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1 — NEGATIF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92024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Remaja 14 tahun share video hoaks tentang ustadz. Video ternyata editan. Berurusan dengan pihak berwajib.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401568"/>
            <a:ext cx="2505456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3474720"/>
            <a:ext cx="239572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"Satu klik tanpa pikir bisa mengubah hidup."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45536" y="804672"/>
            <a:ext cx="2651760" cy="3913632"/>
          </a:xfrm>
          <a:prstGeom prst="rect">
            <a:avLst/>
          </a:prstGeom>
          <a:solidFill>
            <a:srgbClr val="3D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9144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18688" y="1536192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2 — NEGATIF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36976" y="192024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Pelajar kecanduan TikTok &amp; game. Tidur jam 3 pagi, shalat bolong, nilai jeblok. Orang tua menangis.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18688" y="3401568"/>
            <a:ext cx="2505456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3474720"/>
            <a:ext cx="239572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"Gadget yang tak dikontrol — yang mengontrol kamu."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98464" y="804672"/>
            <a:ext cx="2651760" cy="3913632"/>
          </a:xfrm>
          <a:prstGeom prst="rect">
            <a:avLst/>
          </a:prstGeom>
          <a:solidFill>
            <a:srgbClr val="0A3D0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98464" y="9144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071616" y="1536192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F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3 — POSITIF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9904" y="192024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Santri posting dakwah singkat (hadits harian) di TikTok. Ribuan follower. Banyak kembali baca Al-Qur'an.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71616" y="3401568"/>
            <a:ext cx="2505456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474720"/>
            <a:ext cx="239572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"Jempol yang sama — beda niat, beda timbangan amal."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GAME 1 — HOAKS atau FAKTA?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182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8 Menit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8503920" cy="1078992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/>
          <p:nvPr/>
        </p:nvSpPr>
        <p:spPr>
          <a:xfrm>
            <a:off x="502920" y="768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CARA MAIN: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Pemateri tampilkan pernyataan satu per satu  •  Santri: TANGAN KANAN = HOAKS  |  TANGAN KIRI = FAKTA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pertama angkat tangan dan benar → POIN!   •   3 poin terbanyak menang VOUCHER PAAS MART 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PERNYATAAN 1 - 4:
1. "Share berita tanpa cek dulu tidak ada dosanya karena kita hanya meneruskan"
âŒ HOAKS
2. "Indonesia termasuk pengguna medsos terbesar di dunia"
âœ… FAKTA
3. "Malaikat hanya mencatat ucapan lisan, bukan tulisan di HP"
âŒ HOAKS
4. "Ada UU di Indonesia yang bisa menjerat penebar hoaks"
âœ… FAKTA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9"/>
          <p:cNvSpPr/>
          <p:nvPr/>
        </p:nvSpPr>
        <p:spPr>
          <a:xfrm>
            <a:off x="457200" y="2295144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"Share berita tanpa cek = tidak ada dosanya, karena kita hanya meneruskan"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0" y="2212848"/>
            <a:ext cx="1280160" cy="576072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/>
          <p:nvPr/>
        </p:nvSpPr>
        <p:spPr>
          <a:xfrm>
            <a:off x="7543800" y="23042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71216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3"/>
          <p:cNvSpPr/>
          <p:nvPr/>
        </p:nvSpPr>
        <p:spPr>
          <a:xfrm>
            <a:off x="457200" y="2953512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"Malaikat hanya mencatat ucapan lisan, bukan tulisan atau ketikan di HP"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43800" y="2871216"/>
            <a:ext cx="1280160" cy="576072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/>
          <p:nvPr/>
        </p:nvSpPr>
        <p:spPr>
          <a:xfrm>
            <a:off x="7543800" y="296265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529584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"Tabayyun artinya mengecek kebenaran berita sebelum menyebarkannya"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43800" y="3529584"/>
            <a:ext cx="1280160" cy="576072"/>
          </a:xfrm>
          <a:prstGeom prst="rect">
            <a:avLst/>
          </a:prstGeom>
          <a:solidFill>
            <a:srgbClr val="0A4A0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1" name="Text 19"/>
          <p:cNvSpPr/>
          <p:nvPr/>
        </p:nvSpPr>
        <p:spPr>
          <a:xfrm>
            <a:off x="7543800" y="362102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187952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3" name="Text 21"/>
          <p:cNvSpPr/>
          <p:nvPr/>
        </p:nvSpPr>
        <p:spPr>
          <a:xfrm>
            <a:off x="457200" y="4270248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"Medsos bisa menjadi ladang pahala jika digunakan untuk dakwah"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43800" y="4187952"/>
            <a:ext cx="1280160" cy="576072"/>
          </a:xfrm>
          <a:prstGeom prst="rect">
            <a:avLst/>
          </a:prstGeom>
          <a:solidFill>
            <a:srgbClr val="0A4A0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5" name="Text 23"/>
          <p:cNvSpPr/>
          <p:nvPr/>
        </p:nvSpPr>
        <p:spPr>
          <a:xfrm>
            <a:off x="7543800" y="427939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GAME 1 — HOAKS atau FAKTA?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182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8 Menit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8503920" cy="1078992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/>
          <p:nvPr/>
        </p:nvSpPr>
        <p:spPr>
          <a:xfrm>
            <a:off x="502920" y="768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CARA MAIN: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Pemateri tampilkan pernyataan satu per satu  •  Santri: TANGAN KANAN = HOAKS  |  TANGAN KIRI = FAKTA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pertama angkat tangan dan benar → POIN!   •   3 poin terbanyak menang VOUCHER PAAS MART 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PERNYATAAN 9 - 10:
9. "Like konten haram tidak ada konsekuensinya"
âŒ HOAKS
10. "Medsos bisa jadi ladang pahala kalau dipakai dengan niat dakwah"
âœ… FAKTA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9"/>
          <p:cNvSpPr/>
          <p:nvPr/>
        </p:nvSpPr>
        <p:spPr>
          <a:xfrm>
            <a:off x="457200" y="2295144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"Share berita tanpa cek = tidak ada dosanya, karena kita hanya meneruskan"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0" y="2212848"/>
            <a:ext cx="1280160" cy="576072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/>
          <p:nvPr/>
        </p:nvSpPr>
        <p:spPr>
          <a:xfrm>
            <a:off x="7543800" y="23042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71216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3"/>
          <p:cNvSpPr/>
          <p:nvPr/>
        </p:nvSpPr>
        <p:spPr>
          <a:xfrm>
            <a:off x="457200" y="2953512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"Malaikat hanya mencatat ucapan lisan, bukan tulisan atau ketikan di HP"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43800" y="2871216"/>
            <a:ext cx="1280160" cy="576072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/>
          <p:nvPr/>
        </p:nvSpPr>
        <p:spPr>
          <a:xfrm>
            <a:off x="7543800" y="296265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529584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"Tabayyun artinya mengecek kebenaran berita sebelum menyebarkannya"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43800" y="3529584"/>
            <a:ext cx="1280160" cy="576072"/>
          </a:xfrm>
          <a:prstGeom prst="rect">
            <a:avLst/>
          </a:prstGeom>
          <a:solidFill>
            <a:srgbClr val="0A4A0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1" name="Text 19"/>
          <p:cNvSpPr/>
          <p:nvPr/>
        </p:nvSpPr>
        <p:spPr>
          <a:xfrm>
            <a:off x="7543800" y="362102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187952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3" name="Text 21"/>
          <p:cNvSpPr/>
          <p:nvPr/>
        </p:nvSpPr>
        <p:spPr>
          <a:xfrm>
            <a:off x="457200" y="4270248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"Medsos bisa menjadi ladang pahala jika digunakan untuk dakwah"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43800" y="4187952"/>
            <a:ext cx="1280160" cy="576072"/>
          </a:xfrm>
          <a:prstGeom prst="rect">
            <a:avLst/>
          </a:prstGeom>
          <a:solidFill>
            <a:srgbClr val="0A4A0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5" name="Text 23"/>
          <p:cNvSpPr/>
          <p:nvPr/>
        </p:nvSpPr>
        <p:spPr>
          <a:xfrm>
            <a:off x="7543800" y="427939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225824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GAME 1 — HOAKS atau FAKTA?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182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8 Menit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8503920" cy="1078992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/>
          <p:nvPr/>
        </p:nvSpPr>
        <p:spPr>
          <a:xfrm>
            <a:off x="502920" y="768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CARA MAIN: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Pemateri tampilkan pernyataan satu per satu  •  Santri: TANGAN KANAN = HOAKS  |  TANGAN KIRI = FAKTA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pertama angkat tangan dan benar → POIN!   •   3 poin terbanyak menang VOUCHER PAAS MART 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PERNYATAAN 5 - 8:
5. "Ghibah di story Instagram tidak sama dosanya dengan ghibah langsung"
âŒ HOAKS
6. "TikTok bisa digunakan untuk dakwah Islam"
âœ… FAKTA
7. "Hapus komentar jahat yang sudah kita tulis = dosa terhapus juga"
âŒ HOAKS
8. "Tabayyun artinya klarifikasi/cek kebenaran sebelum menyebarkan"
âœ… FAKTA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9"/>
          <p:cNvSpPr/>
          <p:nvPr/>
        </p:nvSpPr>
        <p:spPr>
          <a:xfrm>
            <a:off x="457200" y="2295144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"Share berita tanpa cek = tidak ada dosanya, karena kita hanya meneruskan"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0" y="2212848"/>
            <a:ext cx="1280160" cy="576072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/>
          <p:nvPr/>
        </p:nvSpPr>
        <p:spPr>
          <a:xfrm>
            <a:off x="7543800" y="23042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71216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3"/>
          <p:cNvSpPr/>
          <p:nvPr/>
        </p:nvSpPr>
        <p:spPr>
          <a:xfrm>
            <a:off x="457200" y="2953512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"Malaikat hanya mencatat ucapan lisan, bukan tulisan atau ketikan di HP"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43800" y="2871216"/>
            <a:ext cx="1280160" cy="576072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/>
          <p:nvPr/>
        </p:nvSpPr>
        <p:spPr>
          <a:xfrm>
            <a:off x="7543800" y="296265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529584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"Tabayyun artinya mengecek kebenaran berita sebelum menyebarkannya"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43800" y="3529584"/>
            <a:ext cx="1280160" cy="576072"/>
          </a:xfrm>
          <a:prstGeom prst="rect">
            <a:avLst/>
          </a:prstGeom>
          <a:solidFill>
            <a:srgbClr val="0A4A0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1" name="Text 19"/>
          <p:cNvSpPr/>
          <p:nvPr/>
        </p:nvSpPr>
        <p:spPr>
          <a:xfrm>
            <a:off x="7543800" y="362102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187952"/>
            <a:ext cx="7178040" cy="576072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3" name="Text 21"/>
          <p:cNvSpPr/>
          <p:nvPr/>
        </p:nvSpPr>
        <p:spPr>
          <a:xfrm>
            <a:off x="457200" y="4270248"/>
            <a:ext cx="6903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"Medsos bisa menjadi ladang pahala jika digunakan untuk dakwah"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43800" y="4187952"/>
            <a:ext cx="1280160" cy="576072"/>
          </a:xfrm>
          <a:prstGeom prst="rect">
            <a:avLst/>
          </a:prstGeom>
          <a:solidFill>
            <a:srgbClr val="0A4A0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5" name="Text 23"/>
          <p:cNvSpPr/>
          <p:nvPr/>
        </p:nvSpPr>
        <p:spPr>
          <a:xfrm>
            <a:off x="7543800" y="427939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36994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GAME 2 — ESTAFET DAKWAH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182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7 Menit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4224528" cy="68580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77240"/>
            <a:ext cx="4041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🟢  TIM MTs — 19 Santri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27448" y="713232"/>
            <a:ext cx="4224528" cy="68580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777240"/>
            <a:ext cx="4041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🔵  TIM IL — 22 Santri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8503920" cy="1417320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72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CARA MAIN: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8653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 Pemateri bisikkan kalimat ke orang pertama kedua tim secara bersamaan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 Estafet bisikan sampai ke orang paling terakhir di barisan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 Orang terakhir ucapkan keras-keras — tim paling AKURAT menang! 🏆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8503920" cy="1371600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90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KALIMAT YANG DIBISIKKAN: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4107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1:  "Berkata baik atau diam, jempol kita pun dicatat malaikat"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2:  "Tabayyun dulu sebelum share, jangan sampai menyesal di akhirat"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4279392"/>
            <a:ext cx="8503920" cy="438912"/>
          </a:xfrm>
          <a:prstGeom prst="rect">
            <a:avLst/>
          </a:prstGeom>
          <a:solidFill>
            <a:srgbClr val="4A0E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32511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Pesan tersirat: Begitulah hoaks terjadi — pesan asli berubah di perjalanan. Makanya TABAYYUN itu wajib!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GAME 3 — SKENARIO JEMPOL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182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5 Menit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Abu Bakar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39112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9" name="Text 7"/>
          <p:cNvSpPr/>
          <p:nvPr/>
        </p:nvSpPr>
        <p:spPr>
          <a:xfrm>
            <a:off x="2039112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Umar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58184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9"/>
          <p:cNvSpPr/>
          <p:nvPr/>
        </p:nvSpPr>
        <p:spPr>
          <a:xfrm>
            <a:off x="3758184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Utsman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77256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/>
          <p:nvPr/>
        </p:nvSpPr>
        <p:spPr>
          <a:xfrm>
            <a:off x="5477256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Ali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96328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3"/>
          <p:cNvSpPr/>
          <p:nvPr/>
        </p:nvSpPr>
        <p:spPr>
          <a:xfrm>
            <a:off x="7196328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Thalhah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261872"/>
            <a:ext cx="8503920" cy="749808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/>
          <p:nvPr/>
        </p:nvSpPr>
        <p:spPr>
          <a:xfrm>
            <a:off x="457200" y="1307592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Pemateri baca skenario → Perwakilan kelompok adu cepat jawab LAKUKAN / JANGAN + alasan Islami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benar + alasan Islami = 2 poin   •   Benar tanpa alasan = 1 poin   •   Poin terbanyak MENANG! 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0848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1 - 4:
1. "Saat liburan dapat video lucu tapi menghina ulama - kamu share ke teman?"
âŒ JANGAN (Ghibah &amp; fitnah)
2. "Ada info bermanfaat dari akun dakwah terpercaya - share ke grup keluarga?"
âœ… LAKUKAN (Amar ma'ruf)
3. "Foto teman yang sedang tidur lucu - upload ke story tanpa izin?"
âŒ JANGAN (Perlu izin)
4. "Dapat berita buruk tentang ustadz pesantren - langsung sebar?"
âŒ JANGAN (Tabayyun dulu)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395728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8"/>
          <p:cNvSpPr/>
          <p:nvPr/>
        </p:nvSpPr>
        <p:spPr>
          <a:xfrm>
            <a:off x="457200" y="247802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Dapat video lucu tapi menghina ulama — share ke teman?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2395728"/>
            <a:ext cx="1325880" cy="512064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2" name="Text 20"/>
          <p:cNvSpPr/>
          <p:nvPr/>
        </p:nvSpPr>
        <p:spPr>
          <a:xfrm>
            <a:off x="7498080" y="24871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2980944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4" name="Text 22"/>
          <p:cNvSpPr/>
          <p:nvPr/>
        </p:nvSpPr>
        <p:spPr>
          <a:xfrm>
            <a:off x="457200" y="3063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Ada info dakwah dari akun terpercaya — share ke grup keluarga?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0" y="2980944"/>
            <a:ext cx="1325880" cy="512064"/>
          </a:xfrm>
          <a:prstGeom prst="rect">
            <a:avLst/>
          </a:prstGeom>
          <a:solidFill>
            <a:srgbClr val="0A4A0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6" name="Text 24"/>
          <p:cNvSpPr/>
          <p:nvPr/>
        </p:nvSpPr>
        <p:spPr>
          <a:xfrm>
            <a:off x="7498080" y="307238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LAKUKAN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566160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8" name="Text 26"/>
          <p:cNvSpPr/>
          <p:nvPr/>
        </p:nvSpPr>
        <p:spPr>
          <a:xfrm>
            <a:off x="457200" y="364845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Scroll TikTok saat liburan sampai hampir masuk waktu Ashar?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0" y="3566160"/>
            <a:ext cx="1325880" cy="512064"/>
          </a:xfrm>
          <a:prstGeom prst="rect">
            <a:avLst/>
          </a:prstGeom>
          <a:solidFill>
            <a:srgbClr val="8B45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0" name="Text 28"/>
          <p:cNvSpPr/>
          <p:nvPr/>
        </p:nvSpPr>
        <p:spPr>
          <a:xfrm>
            <a:off x="7498080" y="36576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151376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2" name="Text 30"/>
          <p:cNvSpPr/>
          <p:nvPr/>
        </p:nvSpPr>
        <p:spPr>
          <a:xfrm>
            <a:off x="457200" y="423367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Ada teman yang di-bully di medsos — kamu diam saja?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98080" y="4151376"/>
            <a:ext cx="1325880" cy="512064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4" name="Text 32"/>
          <p:cNvSpPr/>
          <p:nvPr/>
        </p:nvSpPr>
        <p:spPr>
          <a:xfrm>
            <a:off x="7498080" y="424281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850392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GAME 3 — SKENARIO JEMPOL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182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5 Menit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Abu Bakar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39112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9" name="Text 7"/>
          <p:cNvSpPr/>
          <p:nvPr/>
        </p:nvSpPr>
        <p:spPr>
          <a:xfrm>
            <a:off x="2039112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Umar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58184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9"/>
          <p:cNvSpPr/>
          <p:nvPr/>
        </p:nvSpPr>
        <p:spPr>
          <a:xfrm>
            <a:off x="3758184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Utsman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77256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/>
          <p:nvPr/>
        </p:nvSpPr>
        <p:spPr>
          <a:xfrm>
            <a:off x="5477256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Ali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96328" y="713232"/>
            <a:ext cx="1627632" cy="457200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3"/>
          <p:cNvSpPr/>
          <p:nvPr/>
        </p:nvSpPr>
        <p:spPr>
          <a:xfrm>
            <a:off x="7196328" y="7498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Thalhah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261872"/>
            <a:ext cx="8503920" cy="749808"/>
          </a:xfrm>
          <a:prstGeom prst="rect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/>
          <p:nvPr/>
        </p:nvSpPr>
        <p:spPr>
          <a:xfrm>
            <a:off x="457200" y="1307592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Pemateri baca skenario → Perwakilan kelompok adu cepat jawab LAKUKAN / JANGAN + alasan Islami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benar + alasan Islami = 2 poin   •   Benar tanpa alasan = 1 poin   •   Poin terbanyak MENANG! 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0848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5 - 8:
5. "Waktu liburan scroll TikTok sampai hampir masuk waktu Ashar?"
âŒ STOP (Shalat lebih utama)
6. "Ada teman lama yang di-bully di medsos - kamu diam saja?"
âŒ JANGAN DIAM (Bela teman)
7. "Dapat berita hoaks sudah terlanjur share - kamu diam saja?"
âŒ JANGAN (Klarifikasi segera)
8. "Teman mengajak nonton konten haram bareng saat liburan?"
âŒ JANGAN (Tinggalkan)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395728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8"/>
          <p:cNvSpPr/>
          <p:nvPr/>
        </p:nvSpPr>
        <p:spPr>
          <a:xfrm>
            <a:off x="457200" y="247802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Dapat video lucu tapi menghina ulama — share ke teman?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2395728"/>
            <a:ext cx="1325880" cy="512064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2" name="Text 20"/>
          <p:cNvSpPr/>
          <p:nvPr/>
        </p:nvSpPr>
        <p:spPr>
          <a:xfrm>
            <a:off x="7498080" y="24871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2980944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4" name="Text 22"/>
          <p:cNvSpPr/>
          <p:nvPr/>
        </p:nvSpPr>
        <p:spPr>
          <a:xfrm>
            <a:off x="457200" y="3063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Ada info dakwah dari akun terpercaya — share ke grup keluarga?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0" y="2980944"/>
            <a:ext cx="1325880" cy="512064"/>
          </a:xfrm>
          <a:prstGeom prst="rect">
            <a:avLst/>
          </a:prstGeom>
          <a:solidFill>
            <a:srgbClr val="0A4A0A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6" name="Text 24"/>
          <p:cNvSpPr/>
          <p:nvPr/>
        </p:nvSpPr>
        <p:spPr>
          <a:xfrm>
            <a:off x="7498080" y="307238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LAKUKAN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566160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8" name="Text 26"/>
          <p:cNvSpPr/>
          <p:nvPr/>
        </p:nvSpPr>
        <p:spPr>
          <a:xfrm>
            <a:off x="457200" y="364845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Scroll TikTok saat liburan sampai hampir masuk waktu Ashar?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0" y="3566160"/>
            <a:ext cx="1325880" cy="512064"/>
          </a:xfrm>
          <a:prstGeom prst="rect">
            <a:avLst/>
          </a:prstGeom>
          <a:solidFill>
            <a:srgbClr val="8B45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0" name="Text 28"/>
          <p:cNvSpPr/>
          <p:nvPr/>
        </p:nvSpPr>
        <p:spPr>
          <a:xfrm>
            <a:off x="7498080" y="36576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151376"/>
            <a:ext cx="7132320" cy="512064"/>
          </a:xfrm>
          <a:prstGeom prst="rect">
            <a:avLst/>
          </a:prstGeom>
          <a:solidFill>
            <a:srgbClr val="7B1C2E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2" name="Text 30"/>
          <p:cNvSpPr/>
          <p:nvPr/>
        </p:nvSpPr>
        <p:spPr>
          <a:xfrm>
            <a:off x="457200" y="423367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Ada teman yang di-bully di medsos — kamu diam saja?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98080" y="4151376"/>
            <a:ext cx="1325880" cy="512064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4" name="Text 32"/>
          <p:cNvSpPr/>
          <p:nvPr/>
        </p:nvSpPr>
        <p:spPr>
          <a:xfrm>
            <a:off x="7498080" y="424281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 — Managed by Al Andalus IIBS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87077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-548640" y="2560320"/>
            <a:ext cx="2560320" cy="2560320"/>
          </a:xfrm>
          <a:prstGeom prst="ellipse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-548640"/>
            <a:ext cx="2560320" cy="2560320"/>
          </a:xfrm>
          <a:prstGeom prst="ellipse">
            <a:avLst/>
          </a:prstGeom>
          <a:solidFill>
            <a:srgbClr val="5C142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🌟  PESAN PENUTUP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685800"/>
            <a:ext cx="7680960" cy="2395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2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"Gadget bukan musuh.</a:t>
            </a:r>
            <a:endParaRPr lang="en-US" sz="2400" dirty="0"/>
          </a:p>
          <a:p>
            <a:pPr marL="0" indent="0" algn="ctr">
              <a:lnSpc>
                <a:spcPct val="142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Medsos bukan iblis.</a:t>
            </a:r>
            <a:endParaRPr lang="en-US" sz="2400" dirty="0"/>
          </a:p>
          <a:p>
            <a:pPr marL="0" indent="0" algn="ctr">
              <a:lnSpc>
                <a:spcPct val="142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Tapi tanpa ilmu &amp; iman —</a:t>
            </a:r>
            <a:endParaRPr lang="en-US" sz="2400" dirty="0"/>
          </a:p>
          <a:p>
            <a:pPr marL="0" indent="0" algn="ctr">
              <a:lnSpc>
                <a:spcPct val="142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keduanya bisa menjadi fitnah terbesar zaman ini."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97680" y="3182112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0" name="Shape 8"/>
          <p:cNvSpPr/>
          <p:nvPr/>
        </p:nvSpPr>
        <p:spPr>
          <a:xfrm>
            <a:off x="4498848" y="3182112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Shape 9"/>
          <p:cNvSpPr/>
          <p:nvPr/>
        </p:nvSpPr>
        <p:spPr>
          <a:xfrm>
            <a:off x="4700016" y="3182112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3832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Gunakan jempolmu untuk yang dicintai Allah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3950208"/>
            <a:ext cx="6400800" cy="749808"/>
          </a:xfrm>
          <a:prstGeom prst="rect">
            <a:avLst/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977640"/>
            <a:ext cx="6400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Pesantren Al Imam Al Islami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Al Andalus IIBS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2181</Words>
  <Application>Microsoft Office PowerPoint</Application>
  <PresentationFormat>On-screen Show (16:9)</PresentationFormat>
  <Paragraphs>309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Rieza Eka Tomara</cp:lastModifiedBy>
  <cp:revision>3</cp:revision>
  <dcterms:created xsi:type="dcterms:W3CDTF">2026-07-22T14:33:51Z</dcterms:created>
  <dcterms:modified xsi:type="dcterms:W3CDTF">2026-07-23T00:31:07Z</dcterms:modified>
</cp:coreProperties>
</file>