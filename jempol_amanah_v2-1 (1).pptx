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Jam/Hari</c:v>
                </c:pt>
              </c:strCache>
            </c:strRef>
          </c:tx>
          <c:spPr>
            <a:solidFill>
              <a:srgbClr val="7B1C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18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1C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1C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1C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1C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B1C2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B1C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B1C2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Brasil</c:v>
                  </c:pt>
                  <c:pt idx="1">
                    <c:v>Afrika Selatan</c:v>
                  </c:pt>
                  <c:pt idx="2">
                    <c:v>Filipina</c:v>
                  </c:pt>
                  <c:pt idx="3">
                    <c:v>Indonesia</c:v>
                  </c:pt>
                  <c:pt idx="4">
                    <c:v>Nigeria</c:v>
                  </c:pt>
                  <c:pt idx="5">
                    <c:v>India</c:v>
                  </c:pt>
                  <c:pt idx="6">
                    <c:v>Meksiko</c:v>
                  </c:pt>
                  <c:pt idx="7">
                    <c:v>Tiongkok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9.6</c:v>
                </c:pt>
                <c:pt idx="1">
                  <c:v>9.5</c:v>
                </c:pt>
                <c:pt idx="2">
                  <c:v>9.4</c:v>
                </c:pt>
                <c:pt idx="3">
                  <c:v>8.6</c:v>
                </c:pt>
                <c:pt idx="4">
                  <c:v>8.5</c:v>
                </c:pt>
                <c:pt idx="5">
                  <c:v>7.3</c:v>
                </c:pt>
                <c:pt idx="6">
                  <c:v>7.1</c:v>
                </c:pt>
                <c:pt idx="7">
                  <c:v>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C18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Jam per Hari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548640"/>
            <a:ext cx="3291840" cy="3291840"/>
          </a:xfrm>
          <a:prstGeom prst="ellipse">
            <a:avLst/>
          </a:prstGeom>
          <a:solidFill>
            <a:srgbClr val="5C1422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-228600"/>
            <a:ext cx="2651760" cy="2651760"/>
          </a:xfrm>
          <a:prstGeom prst="ellipse">
            <a:avLst/>
          </a:prstGeom>
          <a:solidFill>
            <a:srgbClr val="4A0E1A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8404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ORIENTASI SANTRI BARU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JEMPOL</a:t>
            </a:r>
            <a:endParaRPr lang="en-US" sz="6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AMANAH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83464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83464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Santri Cerdas Menggunakan Gadget &amp; Media Sosial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303520" cy="749808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02736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Pemateri: Rieza Eka Tomata, S.Kom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Kabid IT — Pesantren Al Imam Al Islami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622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Kamis, 23 Juli 2026   •   Masjid Al Furqon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MATERI INI PENTING?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39319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Pesantren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Antum istirahat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gadget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72968" y="804672"/>
            <a:ext cx="2697480" cy="39319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9601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64408" y="17373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 Pulang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64408" y="230428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 ujian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sesungguhnya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25896" y="804672"/>
            <a:ext cx="2697480" cy="3931920"/>
          </a:xfrm>
          <a:prstGeom prst="rect">
            <a:avLst/>
          </a:prstGeom>
          <a:solidFill>
            <a:srgbClr val="7B1C2E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25896" y="9601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17336" y="17373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Hari Ini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Waktunya mengisi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BEKAL yang cukup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63056" y="4224528"/>
            <a:ext cx="2423160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42428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TUJUAN KITA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1 — Berapa Jam Kita di Depan Layar?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804672"/>
          <a:ext cx="57607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822960"/>
            <a:ext cx="2560320" cy="18288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8961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309360" y="14447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Indonesia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09360" y="179222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jam/hari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depan layar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816352"/>
            <a:ext cx="2560320" cy="1737360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880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artinya...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32004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separuh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terjaga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habis di layar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We Are Social &amp; Hootsuite, Digital 2024 Global Overview Report (Januari 2024)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2 — Posisi Indonesia di Dunia Digital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606040" cy="32004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Medsos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Terbesar di Dunia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606040" cy="32004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54680" y="162763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 Jt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46120" y="2423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Aktif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 di Indonesia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822960"/>
            <a:ext cx="2606040" cy="32004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9601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89320" y="162763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080760" y="2423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Populasi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Aktif di Medsos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160520"/>
            <a:ext cx="8503920" cy="594360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Kita juara penggunaan — tapi akhlak digitalnya belum juara. Inilah yang kita ubah bersama!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We Are Social &amp; Hootsuite, Digital 2024 Global Overview Report (Januari 2024)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3 — Akhlak Digital Netizen Asia Tenggara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Digital Civility Index (semakin tinggi = semakin sopan)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1216152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216152"/>
            <a:ext cx="4871923" cy="384048"/>
          </a:xfrm>
          <a:prstGeom prst="rect">
            <a:avLst/>
          </a:prstGeom>
          <a:solidFill>
            <a:srgbClr val="0A4A0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2529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36192" y="1234440"/>
            <a:ext cx="48262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83880" y="12435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Terbaik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1783080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" y="1783080"/>
            <a:ext cx="4476902" cy="384048"/>
          </a:xfrm>
          <a:prstGeom prst="rect">
            <a:avLst/>
          </a:prstGeom>
          <a:solidFill>
            <a:srgbClr val="1A5C1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9222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36192" y="1801368"/>
            <a:ext cx="443118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08760" y="2350008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8760" y="2350008"/>
            <a:ext cx="4016045" cy="384048"/>
          </a:xfrm>
          <a:prstGeom prst="rect">
            <a:avLst/>
          </a:prstGeom>
          <a:solidFill>
            <a:srgbClr val="2E7D2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5915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36192" y="2368296"/>
            <a:ext cx="39703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08760" y="2916936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21" name="Shape 19"/>
          <p:cNvSpPr/>
          <p:nvPr/>
        </p:nvSpPr>
        <p:spPr>
          <a:xfrm>
            <a:off x="1508760" y="2916936"/>
            <a:ext cx="3621024" cy="384048"/>
          </a:xfrm>
          <a:prstGeom prst="rect">
            <a:avLst/>
          </a:prstGeom>
          <a:solidFill>
            <a:srgbClr val="7A6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9260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36192" y="2935224"/>
            <a:ext cx="3575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08760" y="3483864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25" name="Shape 23"/>
          <p:cNvSpPr/>
          <p:nvPr/>
        </p:nvSpPr>
        <p:spPr>
          <a:xfrm>
            <a:off x="1508760" y="3483864"/>
            <a:ext cx="3357677" cy="384048"/>
          </a:xfrm>
          <a:prstGeom prst="rect">
            <a:avLst/>
          </a:prstGeom>
          <a:solidFill>
            <a:srgbClr val="8B45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4930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36192" y="3502152"/>
            <a:ext cx="331195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508760" y="4050792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29" name="Shape 27"/>
          <p:cNvSpPr/>
          <p:nvPr/>
        </p:nvSpPr>
        <p:spPr>
          <a:xfrm>
            <a:off x="1508760" y="4050792"/>
            <a:ext cx="1975104" cy="38404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0599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36192" y="4069080"/>
            <a:ext cx="192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83880" y="407822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Terendah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572000"/>
            <a:ext cx="8503920" cy="329184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5994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Santri Al Imam Al Islami harus menjadi pelopor akhlak digital yang baik!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3708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Microsoft Digital Civility Index 2021 — Asia Pacific Report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4 — Usia Santri &amp; Risiko Digital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82296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10512"/>
            <a:ext cx="502920" cy="502920"/>
          </a:xfrm>
          <a:prstGeom prst="ellipse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828800" cy="13716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pertama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akun medsos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1810512"/>
            <a:ext cx="502920" cy="502920"/>
          </a:xfrm>
          <a:prstGeom prst="ellipse">
            <a:avLst/>
          </a:prstGeom>
          <a:solidFill>
            <a:srgbClr val="8B000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97480" y="2450592"/>
            <a:ext cx="1828800" cy="1371600"/>
          </a:xfrm>
          <a:prstGeom prst="rect">
            <a:avLst/>
          </a:prstGeom>
          <a:solidFill>
            <a:srgbClr val="8B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pertama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terpapar konten negatif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1810512"/>
            <a:ext cx="502920" cy="502920"/>
          </a:xfrm>
          <a:prstGeom prst="ellipse">
            <a:avLst/>
          </a:prstGeom>
          <a:solidFill>
            <a:srgbClr val="5C1422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450592"/>
            <a:ext cx="1828800" cy="137160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aktif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berbagai platform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1810512"/>
            <a:ext cx="502920" cy="502920"/>
          </a:xfrm>
          <a:prstGeom prst="ellipse">
            <a:avLst/>
          </a:prstGeom>
          <a:solidFill>
            <a:srgbClr val="1A5C1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13+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450592"/>
            <a:ext cx="1828800" cy="1371600"/>
          </a:xfrm>
          <a:prstGeom prst="rect">
            <a:avLst/>
          </a:prstGeom>
          <a:solidFill>
            <a:srgbClr val="1A5C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sebagian besar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santri MTs di sini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804672"/>
            <a:ext cx="8503920" cy="868680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841248"/>
            <a:ext cx="8321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Artinya: sebelum antum masuk pesantren ini — kemungkinan besar antum SUDAH terpapar dunia digital.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salah antum. Tapi sekarang saatnya SADAR dan BERBEKAL.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931920"/>
            <a:ext cx="8503920" cy="5029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776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Pesantren ini adalah tempat terbaik untuk mengisi bekal itu!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Common Sense Media, "The Common Sense Census: Media Use by Tweens and Teens" (2023)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DALIL 1 — JAGA LISAN &amp; JEMPOL DIGITAL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13716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مَنْ كَانَ يُؤْمِنُ بِاللَّهِ وَالْيَوْمِ الْآخِرِ فَلْيَقُلْ خَيْرًا أَوْ لِيَصْمُتْ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"Barangsiapa beriman kepada Allah dan hari akhir, hendaklah ia berkata baik atau diam."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HR. Bukhari (no. 6018) &amp; Muslim (no. 47)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8503920" cy="1572768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87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KONEKSI KE DUNIA DIGITAL: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8229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Hadits ini berlaku juga untuk JEMPOL yang mengetik komentar dan menekan tombol share.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berkomentar atau share — tanya diri sendiri: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"Ini baik?  Atau lebih baik aku DIAM?"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DALIL 2 &amp; 3 — TABAYYUN &amp; CATATAN MALAIKAT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8503920" cy="1993392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68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QS. Al-Hujurat: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يَا أَيُّهَا الَّذِينَ آمَنُوا إِن جَاءَكُمْ فَاسِقٌ بِنَبَإٍ فَتَبَيَّنُوا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"Wahai orang-orang beriman! Jika seseorang fasik datang membawa berita, maka telitilah kebenarannya."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HOAKS bukan masalah zaman TikTok — Allah telah ingatkan kita 14 abad yang lalu!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8503920" cy="1938528"/>
          </a:xfrm>
          <a:prstGeom prst="rect">
            <a:avLst/>
          </a:prstGeom>
          <a:solidFill>
            <a:srgbClr val="4A0E1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98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QS. Qaf: 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مَا يَلْفِظُ مِن قَوْلٍ إِلَّا لَدَيْهِ رَقِيبٌ عَتِيدٌ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"Tidak ada satu kata pun yang diucapkan melainkan ada malaikat pengawas yang siap mencatatnya."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Tidak bisa dihack. Tidak ada fitur hapus. Storage tidak pernah penuh — sampai hari kiamat.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DALIL 4 — WAKTU ADALAH AMANAH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150876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وَالْعَصْرِ  إِنَّ الْإِنسَانَ لَفِي خُسْرٍ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"Demi masa. Sungguh manusia benar-benar berada dalam kerugian."   (QS. Al-'Asr: 1-2)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4069080" cy="2331720"/>
          </a:xfrm>
          <a:prstGeom prst="rect">
            <a:avLst/>
          </a:prstGeom>
          <a:solidFill>
            <a:srgbClr val="6B0000"/>
          </a:solidFill>
          <a:ln w="19050">
            <a:solidFill>
              <a:srgbClr val="FF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4688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RUGI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TikTok berjam-jam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manfaat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kerugian yang akan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dipertanggungjawabkan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akhirat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4069080" cy="2331720"/>
          </a:xfrm>
          <a:prstGeom prst="rect">
            <a:avLst/>
          </a:prstGeom>
          <a:solidFill>
            <a:srgbClr val="0A3D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4688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UNTUNG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waktu untuk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belajar, ngaji, dakwah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investasi akhirat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nyata &amp; abadi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🎒  5 BEKAL SANTRI DIGITAL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315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32688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896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859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AQIDAH LURUS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121615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 mana halal dan haram di dunia digital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8503920" cy="7315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737360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737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91640" y="16642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TABAYYUN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202082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dulu kebenarannya, share belakangan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414016"/>
            <a:ext cx="8503920" cy="7315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542032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2505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2468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JAGA LISAN DIGITAL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282549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 = ucapan = dicatat malaikat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218688"/>
            <a:ext cx="8503920" cy="7315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346704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3467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4128" y="3310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91640" y="3273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WAKTU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91640" y="36301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Salat &amp; ngaji tetap nomor satu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4023360"/>
            <a:ext cx="8503920" cy="7315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151376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151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4128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691640" y="40782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NIAT &amp; TUJUAN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691640" y="44348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buka HP — tanya diri: untuk apa?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 CARA TABAYYUN — 4 LANGKAH MUDAH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932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51560" y="877824"/>
            <a:ext cx="7772400" cy="713232"/>
          </a:xfrm>
          <a:prstGeom prst="rect">
            <a:avLst/>
          </a:prstGeom>
          <a:solidFill>
            <a:srgbClr val="EDE5D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95097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di Google — apakah berita ini pernah dibahas media/sumber terpercaya?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" y="189280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892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51560" y="1837944"/>
            <a:ext cx="7772400" cy="713232"/>
          </a:xfrm>
          <a:prstGeom prst="rect">
            <a:avLst/>
          </a:prstGeom>
          <a:solidFill>
            <a:srgbClr val="E2D8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91109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TANGGAL — berita lama sering beredar kembali seolah-olah baru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" y="285292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852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51560" y="2798064"/>
            <a:ext cx="7772400" cy="713232"/>
          </a:xfrm>
          <a:prstGeom prst="rect">
            <a:avLst/>
          </a:prstGeom>
          <a:solidFill>
            <a:srgbClr val="EDE5D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87121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SUMBER — akun asalnya siapa? Apakah bisa dipercaya?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7472" y="381304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51560" y="3758184"/>
            <a:ext cx="7772400" cy="713232"/>
          </a:xfrm>
          <a:prstGeom prst="rect">
            <a:avLst/>
          </a:prstGeom>
          <a:solidFill>
            <a:srgbClr val="E2D8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83133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"Kalau ini ternyata salah dan sudah aku share — apa akibatnya?"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451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Ingat: lebih baik terlambat share daripada terlanjur sebar hoaks!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 STUDI KASUS NYATA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2651760" cy="3913632"/>
          </a:xfrm>
          <a:prstGeom prst="rect">
            <a:avLst/>
          </a:prstGeom>
          <a:solidFill>
            <a:srgbClr val="3D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14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1 — NEGATIF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Remaja 14 tahun share video hoaks tentang ustadz. Video ternyata editan. Berurusan dengan pihak berwajib.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01568"/>
            <a:ext cx="2505456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3474720"/>
            <a:ext cx="239572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"Satu klik tanpa pikir bisa mengubah hidup."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45536" y="804672"/>
            <a:ext cx="2651760" cy="3913632"/>
          </a:xfrm>
          <a:prstGeom prst="rect">
            <a:avLst/>
          </a:prstGeom>
          <a:solidFill>
            <a:srgbClr val="3D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914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18688" y="153619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2 — NEGATIF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36976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 kecanduan TikTok &amp; game. Tidur jam 3 pagi, shalat bolong, nilai jeblok. Orang tua menangis.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18688" y="3401568"/>
            <a:ext cx="2505456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3474720"/>
            <a:ext cx="239572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"Gadget yang tak dikontrol — yang mengontrol kamu."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98464" y="804672"/>
            <a:ext cx="2651760" cy="3913632"/>
          </a:xfrm>
          <a:prstGeom prst="rect">
            <a:avLst/>
          </a:prstGeom>
          <a:solidFill>
            <a:srgbClr val="0A3D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914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71616" y="153619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3 — POSITIF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9904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Santri posting dakwah singkat (hadits harian) di TikTok. Ribuan follower. Banyak kembali baca Al-Qur'an.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71616" y="3401568"/>
            <a:ext cx="2505456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474720"/>
            <a:ext cx="239572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"Jempol yang sama — beda niat, beda timbangan amal."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1 — HOAKS atau FAKTA?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8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8503920" cy="1078992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 tampilkan pernyataan satu per satu  •  Santri: TANGAN KANAN = HOAKS  |  TANGAN KIRI = FAKTA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pertama angkat tangan dan benar → POIN!   •   3 poin terbanyak menang VOUCHER PAAS MART 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PERNYATAAN (total 10 pernyataan saat presentasi):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95144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berita tanpa cek = tidak ada dosanya, karena kita hanya meneruskan"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212848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23042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53512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"Malaikat hanya mencatat ucapan lisan, bukan tulisan atau ketikan di HP"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2871216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296265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11880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"Tabayyun artinya mengecek kebenaran berita sebelum menyebarkannya"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529584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36210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87952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70248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"Medsos bisa menjadi ladang pahala jika digunakan untuk dakwah"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187952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427939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2 — ESTAFET DAKWAH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7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4224528" cy="6858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 TIM MTs — 19 Santri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27448" y="713232"/>
            <a:ext cx="4224528" cy="6858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77724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🔵  TIM IL — 22 Santri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8503920" cy="14173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72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653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 Pemateri bisikkan kalimat ke orang pertama kedua tim secara bersamaan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 Estafet bisikan sampai ke orang paling terakhir di barisan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 Orang terakhir ucapkan keras-keras — tim paling AKURAT menang! 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8503920" cy="13716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KALIMAT YANG DIBISIKKAN: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1:  "Berkata baik atau diam, jempol kita pun dicatat malaikat"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2:  "Tabayyun dulu sebelum share, jangan sampai menyesal di akhirat"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4279392"/>
            <a:ext cx="8503920" cy="438912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251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Pesan tersirat: Begitulah hoaks terjadi — pesan asli berubah di perjalanan. Makanya TABAYYUN itu wajib!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3 — SKENARIO JEMPOL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5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Abu Bakar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9112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Umar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58184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Utsman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77256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77256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Ali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96328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Thalhah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261872"/>
            <a:ext cx="8503920" cy="749808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30759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Pemateri baca skenario → Perwakilan kelompok adu cepat jawab LAKUKAN / JANGAN + alasan Islami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benar + alasan Islami = 2 poin   •   Benar tanpa alasan = 1 poin   •   Poin terbanyak MENANG! 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0848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SKENARIO (total 8 skenario saat presentasi):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7802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Dapat video lucu tapi menghina ulama — share ke teman?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395728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4871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980944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Ada info dakwah dari akun terpercaya — share ke grup keluarga?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2980944"/>
            <a:ext cx="1325880" cy="512064"/>
          </a:xfrm>
          <a:prstGeom prst="rect">
            <a:avLst/>
          </a:prstGeom>
          <a:solidFill>
            <a:srgbClr val="0A4A0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307238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4845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Scroll TikTok saat liburan sampai hampir masuk waktu Ashar?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566160"/>
            <a:ext cx="1325880" cy="512064"/>
          </a:xfrm>
          <a:prstGeom prst="rect">
            <a:avLst/>
          </a:prstGeom>
          <a:solidFill>
            <a:srgbClr val="8B450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3657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151376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336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Ada teman yang di-bully di medsos — kamu diam saja?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4151376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424281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2560320"/>
            <a:ext cx="2560320" cy="2560320"/>
          </a:xfrm>
          <a:prstGeom prst="ellipse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-548640"/>
            <a:ext cx="2560320" cy="2560320"/>
          </a:xfrm>
          <a:prstGeom prst="ellipse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🌟  PESAN PENUTUP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85800"/>
            <a:ext cx="768096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"Gadget bukan musuh.</a:t>
            </a:r>
            <a:endParaRPr lang="en-US" sz="24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Medsos bukan iblis.</a:t>
            </a:r>
            <a:endParaRPr lang="en-US" sz="24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Tapi tanpa ilmu &amp; iman —</a:t>
            </a:r>
            <a:endParaRPr lang="en-US" sz="24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keduanya bisa menjadi fitnah terbesar zaman ini."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318211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318211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4700016" y="318211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Gunakan jempolmu untuk yang dicintai Allah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3950208"/>
            <a:ext cx="6400800" cy="749808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977640"/>
            <a:ext cx="6400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Al Andalus IIBS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2026-07-22T14:33:51Z</dcterms:created>
  <dcterms:modified xsi:type="dcterms:W3CDTF">2026-07-22T14:33:51Z</dcterms:modified>
</cp:coreProperties>
</file>